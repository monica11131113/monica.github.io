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Noto Sans T Chinese" panose="02020500000000000000" charset="-120"/>
      <p:regular r:id="rId16"/>
    </p:embeddedFont>
    <p:embeddedFont>
      <p:font typeface="王漢宗特黑體" panose="02020500000000000000" charset="-12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2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11" b="-921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4391095" y="2153185"/>
            <a:ext cx="9505810" cy="4834766"/>
          </a:xfrm>
          <a:custGeom>
            <a:avLst/>
            <a:gdLst/>
            <a:ahLst/>
            <a:cxnLst/>
            <a:rect l="l" t="t" r="r" b="b"/>
            <a:pathLst>
              <a:path w="9505810" h="4834766">
                <a:moveTo>
                  <a:pt x="0" y="0"/>
                </a:moveTo>
                <a:lnTo>
                  <a:pt x="9505810" y="0"/>
                </a:lnTo>
                <a:lnTo>
                  <a:pt x="9505810" y="4834766"/>
                </a:lnTo>
                <a:lnTo>
                  <a:pt x="0" y="48347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2367" r="-2423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TextBox 4"/>
          <p:cNvSpPr txBox="1"/>
          <p:nvPr/>
        </p:nvSpPr>
        <p:spPr>
          <a:xfrm>
            <a:off x="7351737" y="6405334"/>
            <a:ext cx="3584525" cy="1096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257"/>
              </a:lnSpc>
              <a:spcBef>
                <a:spcPct val="0"/>
              </a:spcBef>
            </a:pPr>
            <a:r>
              <a:rPr lang="en-US" sz="6612" dirty="0" err="1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遊戲提案</a:t>
            </a:r>
            <a:endParaRPr lang="en-US" sz="6612" dirty="0">
              <a:solidFill>
                <a:srgbClr val="000000"/>
              </a:solidFill>
              <a:latin typeface="王漢宗特黑體"/>
              <a:ea typeface="王漢宗特黑體"/>
              <a:cs typeface="王漢宗特黑體"/>
              <a:sym typeface="王漢宗特黑體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1797" y="8561355"/>
            <a:ext cx="4584403" cy="673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0"/>
              </a:lnSpc>
              <a:spcBef>
                <a:spcPct val="0"/>
              </a:spcBef>
            </a:pPr>
            <a:r>
              <a:rPr lang="en-US" sz="4093" dirty="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1411322033劉宣之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182994" y="3546598"/>
            <a:ext cx="8113406" cy="3733511"/>
          </a:xfrm>
          <a:custGeom>
            <a:avLst/>
            <a:gdLst/>
            <a:ahLst/>
            <a:cxnLst/>
            <a:rect l="l" t="t" r="r" b="b"/>
            <a:pathLst>
              <a:path w="8113406" h="3733511">
                <a:moveTo>
                  <a:pt x="0" y="0"/>
                </a:moveTo>
                <a:lnTo>
                  <a:pt x="8113406" y="0"/>
                </a:lnTo>
                <a:lnTo>
                  <a:pt x="8113406" y="3733511"/>
                </a:lnTo>
                <a:lnTo>
                  <a:pt x="0" y="37335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970" r="-1280" b="-16629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>
            <a:off x="11552992" y="2544109"/>
            <a:ext cx="3913404" cy="5738489"/>
          </a:xfrm>
          <a:custGeom>
            <a:avLst/>
            <a:gdLst/>
            <a:ahLst/>
            <a:cxnLst/>
            <a:rect l="l" t="t" r="r" b="b"/>
            <a:pathLst>
              <a:path w="3913404" h="5738489">
                <a:moveTo>
                  <a:pt x="0" y="0"/>
                </a:moveTo>
                <a:lnTo>
                  <a:pt x="3913404" y="0"/>
                </a:lnTo>
                <a:lnTo>
                  <a:pt x="3913404" y="5738489"/>
                </a:lnTo>
                <a:lnTo>
                  <a:pt x="0" y="57384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509" t="-3811" r="-33649" b="-4728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TextBox 5"/>
          <p:cNvSpPr txBox="1"/>
          <p:nvPr/>
        </p:nvSpPr>
        <p:spPr>
          <a:xfrm>
            <a:off x="8153400" y="533618"/>
            <a:ext cx="2286000" cy="171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sz="9000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封面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73344" y="8461209"/>
            <a:ext cx="9286253" cy="147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1"/>
              </a:lnSpc>
            </a:pPr>
            <a:r>
              <a:rPr lang="en-US" sz="272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▲遊戲名稱 黑白反轉</a:t>
            </a:r>
          </a:p>
          <a:p>
            <a:pPr algn="ctr">
              <a:lnSpc>
                <a:spcPts val="3821"/>
              </a:lnSpc>
              <a:spcBef>
                <a:spcPct val="0"/>
              </a:spcBef>
            </a:pPr>
            <a:r>
              <a:rPr lang="en-US" sz="272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設計概念:用黑白的概念設計出我的企畫書封面。</a:t>
            </a:r>
          </a:p>
          <a:p>
            <a:pPr algn="l">
              <a:lnSpc>
                <a:spcPts val="3821"/>
              </a:lnSpc>
              <a:spcBef>
                <a:spcPct val="0"/>
              </a:spcBef>
            </a:pPr>
            <a:endParaRPr lang="en-US" sz="2729">
              <a:solidFill>
                <a:srgbClr val="000000"/>
              </a:solidFill>
              <a:latin typeface="王漢宗特黑體"/>
              <a:ea typeface="王漢宗特黑體"/>
              <a:cs typeface="王漢宗特黑體"/>
              <a:sym typeface="王漢宗特黑體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866567" y="8463573"/>
            <a:ext cx="9286253" cy="147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1"/>
              </a:lnSpc>
            </a:pPr>
            <a:r>
              <a:rPr lang="en-US" sz="272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▲遊戲Logo 黑白角色</a:t>
            </a:r>
          </a:p>
          <a:p>
            <a:pPr algn="ctr">
              <a:lnSpc>
                <a:spcPts val="3821"/>
              </a:lnSpc>
              <a:spcBef>
                <a:spcPct val="0"/>
              </a:spcBef>
            </a:pPr>
            <a:r>
              <a:rPr lang="en-US" sz="272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設計概念:直接用角色的設計來當我的遊戲Logo。 </a:t>
            </a:r>
          </a:p>
          <a:p>
            <a:pPr algn="l">
              <a:lnSpc>
                <a:spcPts val="3821"/>
              </a:lnSpc>
              <a:spcBef>
                <a:spcPct val="0"/>
              </a:spcBef>
            </a:pPr>
            <a:endParaRPr lang="en-US" sz="2729">
              <a:solidFill>
                <a:srgbClr val="000000"/>
              </a:solidFill>
              <a:latin typeface="王漢宗特黑體"/>
              <a:ea typeface="王漢宗特黑體"/>
              <a:cs typeface="王漢宗特黑體"/>
              <a:sym typeface="王漢宗特黑體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548757"/>
          </a:xfrm>
          <a:custGeom>
            <a:avLst/>
            <a:gdLst/>
            <a:ahLst/>
            <a:cxnLst/>
            <a:rect l="l" t="t" r="r" b="b"/>
            <a:pathLst>
              <a:path w="18288000" h="10548757">
                <a:moveTo>
                  <a:pt x="0" y="0"/>
                </a:moveTo>
                <a:lnTo>
                  <a:pt x="18288000" y="0"/>
                </a:lnTo>
                <a:lnTo>
                  <a:pt x="18288000" y="10548757"/>
                </a:lnTo>
                <a:lnTo>
                  <a:pt x="0" y="105487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88" b="-7788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2700538" y="6368875"/>
            <a:ext cx="6168823" cy="3373044"/>
          </a:xfrm>
          <a:custGeom>
            <a:avLst/>
            <a:gdLst/>
            <a:ahLst/>
            <a:cxnLst/>
            <a:rect l="l" t="t" r="r" b="b"/>
            <a:pathLst>
              <a:path w="6168823" h="3373044">
                <a:moveTo>
                  <a:pt x="0" y="0"/>
                </a:moveTo>
                <a:lnTo>
                  <a:pt x="6168823" y="0"/>
                </a:lnTo>
                <a:lnTo>
                  <a:pt x="6168823" y="3373044"/>
                </a:lnTo>
                <a:lnTo>
                  <a:pt x="0" y="3373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849" t="-1641" r="-12177" b="-2983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>
            <a:off x="9338947" y="6318076"/>
            <a:ext cx="6328207" cy="3423844"/>
          </a:xfrm>
          <a:custGeom>
            <a:avLst/>
            <a:gdLst/>
            <a:ahLst/>
            <a:cxnLst/>
            <a:rect l="l" t="t" r="r" b="b"/>
            <a:pathLst>
              <a:path w="6328207" h="3423844">
                <a:moveTo>
                  <a:pt x="0" y="0"/>
                </a:moveTo>
                <a:lnTo>
                  <a:pt x="6328208" y="0"/>
                </a:lnTo>
                <a:lnTo>
                  <a:pt x="6328208" y="3423843"/>
                </a:lnTo>
                <a:lnTo>
                  <a:pt x="0" y="3423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042" t="-3066" r="-13067" b="-4445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TextBox 5"/>
          <p:cNvSpPr txBox="1"/>
          <p:nvPr/>
        </p:nvSpPr>
        <p:spPr>
          <a:xfrm>
            <a:off x="6502412" y="342900"/>
            <a:ext cx="5283175" cy="1652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dirty="0" err="1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製作動機</a:t>
            </a:r>
            <a:endParaRPr lang="en-US" sz="9999" dirty="0">
              <a:solidFill>
                <a:srgbClr val="000000"/>
              </a:solidFill>
              <a:latin typeface="王漢宗特黑體"/>
              <a:ea typeface="王漢宗特黑體"/>
              <a:cs typeface="王漢宗特黑體"/>
              <a:sym typeface="王漢宗特黑體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339395" y="2631926"/>
            <a:ext cx="13609210" cy="287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想到前陣子跟朋友玩Switch的瑪利歐系列闖關遊戲，裡面其中一個關卡會跑到只有看的到剪影的地方，增加難度。雖然困難，但卻是我印象最深刻的部分，所以想以此為發想，去設計一款影子遊戲。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478077"/>
          </a:xfrm>
          <a:custGeom>
            <a:avLst/>
            <a:gdLst/>
            <a:ahLst/>
            <a:cxnLst/>
            <a:rect l="l" t="t" r="r" b="b"/>
            <a:pathLst>
              <a:path w="18288000" h="10478077">
                <a:moveTo>
                  <a:pt x="0" y="0"/>
                </a:moveTo>
                <a:lnTo>
                  <a:pt x="18288000" y="0"/>
                </a:lnTo>
                <a:lnTo>
                  <a:pt x="18288000" y="10478077"/>
                </a:lnTo>
                <a:lnTo>
                  <a:pt x="0" y="104780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12" b="-8112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TextBox 3"/>
          <p:cNvSpPr txBox="1"/>
          <p:nvPr/>
        </p:nvSpPr>
        <p:spPr>
          <a:xfrm>
            <a:off x="2339395" y="2737823"/>
            <a:ext cx="13609210" cy="287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希望玩家可以從遊戲過程中，獲得短暫的平靜，透過黑白的美術設計，帶出一種簡單輕鬆的感覺。遊玩過程要活用反轉機制，解決黑白各有的障礙，並且挑戰腦力與反應力。往後是否發展出彩色的世界，待討論。</a:t>
            </a:r>
          </a:p>
        </p:txBody>
      </p:sp>
      <p:sp>
        <p:nvSpPr>
          <p:cNvPr id="4" name="Freeform 4"/>
          <p:cNvSpPr/>
          <p:nvPr/>
        </p:nvSpPr>
        <p:spPr>
          <a:xfrm>
            <a:off x="2362936" y="6370023"/>
            <a:ext cx="9321039" cy="3107013"/>
          </a:xfrm>
          <a:custGeom>
            <a:avLst/>
            <a:gdLst/>
            <a:ahLst/>
            <a:cxnLst/>
            <a:rect l="l" t="t" r="r" b="b"/>
            <a:pathLst>
              <a:path w="9321039" h="3107013">
                <a:moveTo>
                  <a:pt x="0" y="0"/>
                </a:moveTo>
                <a:lnTo>
                  <a:pt x="9321039" y="0"/>
                </a:lnTo>
                <a:lnTo>
                  <a:pt x="9321039" y="3107013"/>
                </a:lnTo>
                <a:lnTo>
                  <a:pt x="0" y="31070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>
            <a:off x="12549554" y="5608023"/>
            <a:ext cx="3869013" cy="3869013"/>
          </a:xfrm>
          <a:custGeom>
            <a:avLst/>
            <a:gdLst/>
            <a:ahLst/>
            <a:cxnLst/>
            <a:rect l="l" t="t" r="r" b="b"/>
            <a:pathLst>
              <a:path w="3869013" h="3869013">
                <a:moveTo>
                  <a:pt x="0" y="0"/>
                </a:moveTo>
                <a:lnTo>
                  <a:pt x="3869013" y="0"/>
                </a:lnTo>
                <a:lnTo>
                  <a:pt x="3869013" y="3869013"/>
                </a:lnTo>
                <a:lnTo>
                  <a:pt x="0" y="38690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TextBox 6"/>
          <p:cNvSpPr txBox="1"/>
          <p:nvPr/>
        </p:nvSpPr>
        <p:spPr>
          <a:xfrm>
            <a:off x="6464312" y="305745"/>
            <a:ext cx="5359375" cy="1652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dirty="0" err="1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遊戲目的</a:t>
            </a:r>
            <a:endParaRPr lang="en-US" sz="9999" dirty="0">
              <a:solidFill>
                <a:srgbClr val="000000"/>
              </a:solidFill>
              <a:latin typeface="王漢宗特黑體"/>
              <a:ea typeface="王漢宗特黑體"/>
              <a:cs typeface="王漢宗特黑體"/>
              <a:sym typeface="王漢宗特黑體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0788590" y="6344538"/>
            <a:ext cx="4503912" cy="3348792"/>
          </a:xfrm>
          <a:custGeom>
            <a:avLst/>
            <a:gdLst/>
            <a:ahLst/>
            <a:cxnLst/>
            <a:rect l="l" t="t" r="r" b="b"/>
            <a:pathLst>
              <a:path w="4503912" h="3348792">
                <a:moveTo>
                  <a:pt x="0" y="0"/>
                </a:moveTo>
                <a:lnTo>
                  <a:pt x="4503912" y="0"/>
                </a:lnTo>
                <a:lnTo>
                  <a:pt x="4503912" y="3348792"/>
                </a:lnTo>
                <a:lnTo>
                  <a:pt x="0" y="33487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540" r="-18927" b="-324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>
            <a:off x="3534864" y="6344538"/>
            <a:ext cx="5979986" cy="3348792"/>
          </a:xfrm>
          <a:custGeom>
            <a:avLst/>
            <a:gdLst/>
            <a:ahLst/>
            <a:cxnLst/>
            <a:rect l="l" t="t" r="r" b="b"/>
            <a:pathLst>
              <a:path w="5979986" h="3348792">
                <a:moveTo>
                  <a:pt x="0" y="0"/>
                </a:moveTo>
                <a:lnTo>
                  <a:pt x="5979986" y="0"/>
                </a:lnTo>
                <a:lnTo>
                  <a:pt x="5979986" y="3348792"/>
                </a:lnTo>
                <a:lnTo>
                  <a:pt x="0" y="3348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295400" y="533618"/>
            <a:ext cx="16002000" cy="171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sz="9000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為什麼玩家會想要遊玩這款遊戲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39395" y="2737823"/>
            <a:ext cx="13609210" cy="287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透過簡單可愛的遊戲美術設計吸引想要療癒身心靈的玩家。透過快速轉換黑白角色，在滿滿的遊戲快感與緊張感之餘，體驗腦力激盪。也在過程中加入溫和的音樂，幫助玩家放鬆心情。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TextBox 3"/>
          <p:cNvSpPr txBox="1"/>
          <p:nvPr/>
        </p:nvSpPr>
        <p:spPr>
          <a:xfrm>
            <a:off x="6502411" y="310270"/>
            <a:ext cx="5283175" cy="1652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dirty="0" err="1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遊戲類型</a:t>
            </a:r>
            <a:endParaRPr lang="en-US" sz="9999" dirty="0">
              <a:solidFill>
                <a:srgbClr val="000000"/>
              </a:solidFill>
              <a:latin typeface="王漢宗特黑體"/>
              <a:ea typeface="王漢宗特黑體"/>
              <a:cs typeface="王漢宗特黑體"/>
              <a:sym typeface="王漢宗特黑體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602592" y="2273300"/>
            <a:ext cx="11082815" cy="287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以電腦PC為主為遊玩平台，單人遊玩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以動作解謎闖關為核心主題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遊戲機制圍繞「光影翻轉」與「雙角色協作」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美術風格採用極簡黑白、對比鮮明的風格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19800" y="5197893"/>
            <a:ext cx="5637751" cy="1822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73"/>
              </a:lnSpc>
              <a:spcBef>
                <a:spcPct val="0"/>
              </a:spcBef>
            </a:pPr>
            <a:r>
              <a:rPr lang="en-US" sz="9623" dirty="0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 </a:t>
            </a:r>
            <a:r>
              <a:rPr lang="en-US" sz="9623" dirty="0" err="1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玩法介紹</a:t>
            </a:r>
            <a:endParaRPr lang="en-US" sz="9623" dirty="0">
              <a:solidFill>
                <a:srgbClr val="000000"/>
              </a:solidFill>
              <a:latin typeface="王漢宗特黑體"/>
              <a:ea typeface="王漢宗特黑體"/>
              <a:cs typeface="王漢宗特黑體"/>
              <a:sym typeface="王漢宗特黑體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149824" y="6884684"/>
            <a:ext cx="11988351" cy="287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在這個被黑與白撕裂的世界裡，只有「反轉」才能讓你前進。你要同時操控光與影，一體卻又對立的存在。轉換時機、解開謎題、讓兩個靈魂再次相遇。但要小心，光若墜落，影也將一同消失。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TextBox 3"/>
          <p:cNvSpPr txBox="1"/>
          <p:nvPr/>
        </p:nvSpPr>
        <p:spPr>
          <a:xfrm>
            <a:off x="6502412" y="559151"/>
            <a:ext cx="5283175" cy="1652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dirty="0" err="1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背景故事</a:t>
            </a:r>
            <a:endParaRPr lang="en-US" sz="9999" dirty="0">
              <a:solidFill>
                <a:srgbClr val="000000"/>
              </a:solidFill>
              <a:latin typeface="王漢宗特黑體"/>
              <a:ea typeface="王漢宗特黑體"/>
              <a:cs typeface="王漢宗特黑體"/>
              <a:sym typeface="王漢宗特黑體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339395" y="3795189"/>
            <a:ext cx="13609210" cy="427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原本的世界光與影子是一體的，但隨著時間流逝，光越來越耀眼，影子則被迫只能待在黑暗深處。光與影分裂之後，世界開始崩壞(道路斷裂、陷阱浮現)，沒有一方能單獨存活。玩家同時背負著白色本體與黑色影子，兩者對立，卻缺一不可，也只有在光與影同時抵達出口時，世界的裂縫才會癒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11" b="-921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6959926" y="2332545"/>
            <a:ext cx="4527021" cy="6925755"/>
          </a:xfrm>
          <a:custGeom>
            <a:avLst/>
            <a:gdLst/>
            <a:ahLst/>
            <a:cxnLst/>
            <a:rect l="l" t="t" r="r" b="b"/>
            <a:pathLst>
              <a:path w="4527021" h="6925755">
                <a:moveTo>
                  <a:pt x="0" y="0"/>
                </a:moveTo>
                <a:lnTo>
                  <a:pt x="4527021" y="0"/>
                </a:lnTo>
                <a:lnTo>
                  <a:pt x="4527021" y="6925755"/>
                </a:lnTo>
                <a:lnTo>
                  <a:pt x="0" y="69257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TextBox 4"/>
          <p:cNvSpPr txBox="1"/>
          <p:nvPr/>
        </p:nvSpPr>
        <p:spPr>
          <a:xfrm>
            <a:off x="7240647" y="0"/>
            <a:ext cx="3965577" cy="1652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dirty="0" err="1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流程圖</a:t>
            </a:r>
            <a:endParaRPr lang="en-US" sz="9999" dirty="0">
              <a:solidFill>
                <a:srgbClr val="000000"/>
              </a:solidFill>
              <a:latin typeface="王漢宗特黑體"/>
              <a:ea typeface="王漢宗特黑體"/>
              <a:cs typeface="王漢宗特黑體"/>
              <a:sym typeface="王漢宗特黑體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423492"/>
          </a:xfrm>
          <a:custGeom>
            <a:avLst/>
            <a:gdLst/>
            <a:ahLst/>
            <a:cxnLst/>
            <a:rect l="l" t="t" r="r" b="b"/>
            <a:pathLst>
              <a:path w="18288000" h="10423492">
                <a:moveTo>
                  <a:pt x="0" y="0"/>
                </a:moveTo>
                <a:lnTo>
                  <a:pt x="18288000" y="0"/>
                </a:lnTo>
                <a:lnTo>
                  <a:pt x="18288000" y="10423492"/>
                </a:lnTo>
                <a:lnTo>
                  <a:pt x="0" y="10423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68" b="-8368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TextBox 3"/>
          <p:cNvSpPr txBox="1"/>
          <p:nvPr/>
        </p:nvSpPr>
        <p:spPr>
          <a:xfrm>
            <a:off x="6540511" y="188405"/>
            <a:ext cx="5206975" cy="1652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dirty="0" err="1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操作方式</a:t>
            </a:r>
            <a:endParaRPr lang="en-US" sz="9999" dirty="0">
              <a:solidFill>
                <a:srgbClr val="000000"/>
              </a:solidFill>
              <a:latin typeface="王漢宗特黑體"/>
              <a:ea typeface="王漢宗特黑體"/>
              <a:cs typeface="王漢宗特黑體"/>
              <a:sym typeface="王漢宗特黑體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149824" y="2294445"/>
            <a:ext cx="11988351" cy="7804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移動: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       A / D 或 ← / →：左右移動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       ↑/W/Space：跳躍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000000"/>
              </a:solidFill>
              <a:latin typeface="王漢宗特黑體"/>
              <a:ea typeface="王漢宗特黑體"/>
              <a:cs typeface="王漢宗特黑體"/>
              <a:sym typeface="王漢宗特黑體"/>
            </a:endParaRP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翻轉: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       Shift : 黑白翻轉（光與暗區域交換位置）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000000"/>
              </a:solidFill>
              <a:latin typeface="王漢宗特黑體"/>
              <a:ea typeface="王漢宗特黑體"/>
              <a:cs typeface="王漢宗特黑體"/>
              <a:sym typeface="王漢宗特黑體"/>
            </a:endParaRP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特殊互動（依關卡設計）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       F：啟動機關 / 開門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       R：重新開始關卡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endParaRPr lang="en-US" sz="3999">
              <a:solidFill>
                <a:srgbClr val="000000"/>
              </a:solidFill>
              <a:latin typeface="王漢宗特黑體"/>
              <a:ea typeface="王漢宗特黑體"/>
              <a:cs typeface="王漢宗特黑體"/>
              <a:sym typeface="王漢宗特黑體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11" b="-921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TextBox 3"/>
          <p:cNvSpPr txBox="1"/>
          <p:nvPr/>
        </p:nvSpPr>
        <p:spPr>
          <a:xfrm>
            <a:off x="6065824" y="98336"/>
            <a:ext cx="6315224" cy="1898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SWOT分析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722163" y="2822926"/>
            <a:ext cx="13002547" cy="568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優勢（Strengths）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    玩法獨特、操作簡單，美術極簡卻具辨識度。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劣勢（Weaknesses）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    關卡需高度創意，角色抽象感可能降低玩家代入感。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機會（Opportunities）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    延伸空間大。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威脅（Threats）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    同類遊戲競爭激烈，玩家耐心與市場流失風險高。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826784"/>
          </a:xfrm>
          <a:custGeom>
            <a:avLst/>
            <a:gdLst/>
            <a:ahLst/>
            <a:cxnLst/>
            <a:rect l="l" t="t" r="r" b="b"/>
            <a:pathLst>
              <a:path w="18288000" h="10826784">
                <a:moveTo>
                  <a:pt x="0" y="0"/>
                </a:moveTo>
                <a:lnTo>
                  <a:pt x="18288000" y="0"/>
                </a:lnTo>
                <a:lnTo>
                  <a:pt x="18288000" y="10826784"/>
                </a:lnTo>
                <a:lnTo>
                  <a:pt x="0" y="10826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04" b="-6304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TextBox 3"/>
          <p:cNvSpPr txBox="1"/>
          <p:nvPr/>
        </p:nvSpPr>
        <p:spPr>
          <a:xfrm>
            <a:off x="3683242" y="2927350"/>
            <a:ext cx="10921516" cy="427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endParaRPr/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 • 螢幕左下：顯示「光 / 影」狀態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             （目前誰在優勢區域）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 • 螢幕右下：提示「翻轉冷卻」進度條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             （避免連續瘋狂翻轉）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 • 上方：時間倒數或通關進度。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03950" y="157914"/>
            <a:ext cx="5080099" cy="1898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介面設計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4232866" y="2227008"/>
            <a:ext cx="9822268" cy="7724308"/>
          </a:xfrm>
          <a:custGeom>
            <a:avLst/>
            <a:gdLst/>
            <a:ahLst/>
            <a:cxnLst/>
            <a:rect l="l" t="t" r="r" b="b"/>
            <a:pathLst>
              <a:path w="9822268" h="7724308">
                <a:moveTo>
                  <a:pt x="0" y="0"/>
                </a:moveTo>
                <a:lnTo>
                  <a:pt x="9822268" y="0"/>
                </a:lnTo>
                <a:lnTo>
                  <a:pt x="9822268" y="7724308"/>
                </a:lnTo>
                <a:lnTo>
                  <a:pt x="0" y="7724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024" t="-14201" r="-14082" b="-2713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TextBox 4"/>
          <p:cNvSpPr txBox="1"/>
          <p:nvPr/>
        </p:nvSpPr>
        <p:spPr>
          <a:xfrm>
            <a:off x="6603950" y="157914"/>
            <a:ext cx="5080099" cy="1898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介面模擬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559728" y="2634362"/>
            <a:ext cx="7939783" cy="3032142"/>
          </a:xfrm>
          <a:custGeom>
            <a:avLst/>
            <a:gdLst/>
            <a:ahLst/>
            <a:cxnLst/>
            <a:rect l="l" t="t" r="r" b="b"/>
            <a:pathLst>
              <a:path w="7939783" h="3032142">
                <a:moveTo>
                  <a:pt x="0" y="0"/>
                </a:moveTo>
                <a:lnTo>
                  <a:pt x="7939784" y="0"/>
                </a:lnTo>
                <a:lnTo>
                  <a:pt x="7939784" y="3032142"/>
                </a:lnTo>
                <a:lnTo>
                  <a:pt x="0" y="3032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318" b="-275433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>
            <a:off x="9010586" y="4281197"/>
            <a:ext cx="8642045" cy="3238283"/>
          </a:xfrm>
          <a:custGeom>
            <a:avLst/>
            <a:gdLst/>
            <a:ahLst/>
            <a:cxnLst/>
            <a:rect l="l" t="t" r="r" b="b"/>
            <a:pathLst>
              <a:path w="8642045" h="3238283">
                <a:moveTo>
                  <a:pt x="0" y="0"/>
                </a:moveTo>
                <a:lnTo>
                  <a:pt x="8642045" y="0"/>
                </a:lnTo>
                <a:lnTo>
                  <a:pt x="8642045" y="3238284"/>
                </a:lnTo>
                <a:lnTo>
                  <a:pt x="0" y="3238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0089" b="-177558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>
            <a:off x="891308" y="6603747"/>
            <a:ext cx="3963871" cy="2609275"/>
          </a:xfrm>
          <a:custGeom>
            <a:avLst/>
            <a:gdLst/>
            <a:ahLst/>
            <a:cxnLst/>
            <a:rect l="l" t="t" r="r" b="b"/>
            <a:pathLst>
              <a:path w="3963871" h="2609275">
                <a:moveTo>
                  <a:pt x="0" y="0"/>
                </a:moveTo>
                <a:lnTo>
                  <a:pt x="3963871" y="0"/>
                </a:lnTo>
                <a:lnTo>
                  <a:pt x="3963871" y="2609275"/>
                </a:lnTo>
                <a:lnTo>
                  <a:pt x="0" y="2609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32487" r="-95717" b="-88254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>
            <a:off x="4708830" y="6716314"/>
            <a:ext cx="3511746" cy="2698049"/>
          </a:xfrm>
          <a:custGeom>
            <a:avLst/>
            <a:gdLst/>
            <a:ahLst/>
            <a:cxnLst/>
            <a:rect l="l" t="t" r="r" b="b"/>
            <a:pathLst>
              <a:path w="3511746" h="2698049">
                <a:moveTo>
                  <a:pt x="0" y="0"/>
                </a:moveTo>
                <a:lnTo>
                  <a:pt x="3511747" y="0"/>
                </a:lnTo>
                <a:lnTo>
                  <a:pt x="3511747" y="2698049"/>
                </a:lnTo>
                <a:lnTo>
                  <a:pt x="0" y="26980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2559" t="-226872" r="-7071" b="-77659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6578612" y="287812"/>
            <a:ext cx="5130775" cy="1652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dirty="0" err="1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角色發想</a:t>
            </a:r>
            <a:endParaRPr lang="en-US" sz="9999" dirty="0">
              <a:solidFill>
                <a:srgbClr val="000000"/>
              </a:solidFill>
              <a:latin typeface="王漢宗特黑體"/>
              <a:ea typeface="王漢宗特黑體"/>
              <a:cs typeface="王漢宗特黑體"/>
              <a:sym typeface="王漢宗特黑體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024989" y="5446314"/>
            <a:ext cx="1016050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原皮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44930" y="5446314"/>
            <a:ext cx="1524000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小男孩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64020" y="9105900"/>
            <a:ext cx="1524000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小女孩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98905" y="9105900"/>
            <a:ext cx="1016050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貓咪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44355" y="7309688"/>
            <a:ext cx="1016050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寶寶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811603" y="7309688"/>
            <a:ext cx="1016050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型男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358387"/>
          </a:xfrm>
          <a:custGeom>
            <a:avLst/>
            <a:gdLst/>
            <a:ahLst/>
            <a:cxnLst/>
            <a:rect l="l" t="t" r="r" b="b"/>
            <a:pathLst>
              <a:path w="18288000" h="10358387">
                <a:moveTo>
                  <a:pt x="0" y="0"/>
                </a:moveTo>
                <a:lnTo>
                  <a:pt x="18288000" y="0"/>
                </a:lnTo>
                <a:lnTo>
                  <a:pt x="18288000" y="10358387"/>
                </a:lnTo>
                <a:lnTo>
                  <a:pt x="0" y="10358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850" b="-8850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5499116" y="5026620"/>
            <a:ext cx="7594569" cy="2531523"/>
          </a:xfrm>
          <a:custGeom>
            <a:avLst/>
            <a:gdLst/>
            <a:ahLst/>
            <a:cxnLst/>
            <a:rect l="l" t="t" r="r" b="b"/>
            <a:pathLst>
              <a:path w="7594569" h="2531523">
                <a:moveTo>
                  <a:pt x="0" y="0"/>
                </a:moveTo>
                <a:lnTo>
                  <a:pt x="7594568" y="0"/>
                </a:lnTo>
                <a:lnTo>
                  <a:pt x="7594568" y="2531523"/>
                </a:lnTo>
                <a:lnTo>
                  <a:pt x="0" y="25315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>
            <a:off x="1518055" y="6653792"/>
            <a:ext cx="5435016" cy="3057197"/>
          </a:xfrm>
          <a:custGeom>
            <a:avLst/>
            <a:gdLst/>
            <a:ahLst/>
            <a:cxnLst/>
            <a:rect l="l" t="t" r="r" b="b"/>
            <a:pathLst>
              <a:path w="5435016" h="3057197">
                <a:moveTo>
                  <a:pt x="0" y="0"/>
                </a:moveTo>
                <a:lnTo>
                  <a:pt x="5435016" y="0"/>
                </a:lnTo>
                <a:lnTo>
                  <a:pt x="5435016" y="3057197"/>
                </a:lnTo>
                <a:lnTo>
                  <a:pt x="0" y="3057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>
            <a:off x="11321230" y="6653792"/>
            <a:ext cx="5244483" cy="3005361"/>
          </a:xfrm>
          <a:custGeom>
            <a:avLst/>
            <a:gdLst/>
            <a:ahLst/>
            <a:cxnLst/>
            <a:rect l="l" t="t" r="r" b="b"/>
            <a:pathLst>
              <a:path w="5244483" h="3005361">
                <a:moveTo>
                  <a:pt x="0" y="0"/>
                </a:moveTo>
                <a:lnTo>
                  <a:pt x="5244484" y="0"/>
                </a:lnTo>
                <a:lnTo>
                  <a:pt x="5244484" y="3005362"/>
                </a:lnTo>
                <a:lnTo>
                  <a:pt x="0" y="3005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TextBox 6"/>
          <p:cNvSpPr txBox="1"/>
          <p:nvPr/>
        </p:nvSpPr>
        <p:spPr>
          <a:xfrm>
            <a:off x="6705600" y="233640"/>
            <a:ext cx="5130775" cy="1652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dirty="0" err="1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參考資料</a:t>
            </a:r>
            <a:endParaRPr lang="en-US" sz="9999" dirty="0">
              <a:solidFill>
                <a:srgbClr val="000000"/>
              </a:solidFill>
              <a:latin typeface="王漢宗特黑體"/>
              <a:ea typeface="王漢宗特黑體"/>
              <a:cs typeface="王漢宗特黑體"/>
              <a:sym typeface="王漢宗特黑體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172684" y="2291040"/>
            <a:ext cx="7942631" cy="216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黑白手繪風冒險遊戲《TOEM》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黑白風格冒險遊戲《Minit》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《Sqube Darkness》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281</Words>
  <Application>Microsoft Office PowerPoint</Application>
  <PresentationFormat>自訂</PresentationFormat>
  <Paragraphs>62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王漢宗特黑體</vt:lpstr>
      <vt:lpstr>Noto Sans T Chinese</vt:lpstr>
      <vt:lpstr>Calibri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影子迷宮</dc:title>
  <dc:creator>Monica</dc:creator>
  <cp:lastModifiedBy>育軒 劉</cp:lastModifiedBy>
  <cp:revision>4</cp:revision>
  <dcterms:created xsi:type="dcterms:W3CDTF">2006-08-16T00:00:00Z</dcterms:created>
  <dcterms:modified xsi:type="dcterms:W3CDTF">2025-11-09T18:53:34Z</dcterms:modified>
  <dc:identifier>DAGzrU_tMAA</dc:identifier>
</cp:coreProperties>
</file>